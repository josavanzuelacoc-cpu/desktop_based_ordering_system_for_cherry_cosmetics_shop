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C5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7132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ABED3"/>
                </a:solidFill>
                <a:latin typeface="Aptos"/>
              </a:rPr>
              <a:t>PHINMA-COC  •  CARMEN, CAGAYAN DE ORO 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8046720" cy="1325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>
                <a:solidFill>
                  <a:srgbClr val="FFFFFF"/>
                </a:solidFill>
                <a:latin typeface="Aptos"/>
              </a:rPr>
              <a:t>DESKTOP-BASED ORDERING SYSTEM</a:t>
            </a:r>
          </a:p>
          <a:p>
            <a:pPr algn="l">
              <a:spcAft>
                <a:spcPts val="500"/>
              </a:spcAft>
            </a:pPr>
            <a:r>
              <a:rPr sz="2900" b="1">
                <a:solidFill>
                  <a:srgbClr val="FFFFFF"/>
                </a:solidFill>
                <a:latin typeface="Aptos"/>
              </a:rPr>
              <a:t>FOR CHERRY COSMETICS 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852928"/>
            <a:ext cx="69494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EECAD8"/>
                </a:solidFill>
                <a:latin typeface="Aptos"/>
              </a:rPr>
              <a:t>2.5-MINUTE LIVE SYSTEM SHOWCASE &amp; FINAL DEFENSE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1325880"/>
            <a:ext cx="292608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45920"/>
            <a:ext cx="23774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20283A"/>
                </a:solidFill>
                <a:latin typeface="Aptos"/>
              </a:rPr>
              <a:t>CHERRY COSMETICS</a:t>
            </a:r>
          </a:p>
        </p:txBody>
      </p:sp>
      <p:sp>
        <p:nvSpPr>
          <p:cNvPr id="9" name="Oval 8"/>
          <p:cNvSpPr/>
          <p:nvPr/>
        </p:nvSpPr>
        <p:spPr>
          <a:xfrm>
            <a:off x="9281160" y="2240280"/>
            <a:ext cx="594360" cy="594360"/>
          </a:xfrm>
          <a:prstGeom prst="ellipse">
            <a:avLst/>
          </a:prstGeom>
          <a:solidFill>
            <a:srgbClr val="DC5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2240280"/>
            <a:ext cx="594360" cy="594360"/>
          </a:xfrm>
          <a:prstGeom prst="ellipse">
            <a:avLst/>
          </a:prstGeom>
          <a:solidFill>
            <a:srgbClr val="F5B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738360" y="3063240"/>
            <a:ext cx="594360" cy="594360"/>
          </a:xfrm>
          <a:prstGeom prst="ellipse">
            <a:avLst/>
          </a:prstGeom>
          <a:solidFill>
            <a:srgbClr val="E99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23960" y="3977639"/>
            <a:ext cx="219456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2C2F37"/>
                </a:solidFill>
                <a:latin typeface="Aptos"/>
              </a:rPr>
              <a:t>Products  •  Orders</a:t>
            </a:r>
          </a:p>
          <a:p>
            <a:pPr algn="ctr">
              <a:spcAft>
                <a:spcPts val="500"/>
              </a:spcAft>
            </a:pPr>
            <a:r>
              <a:rPr sz="1400" b="1">
                <a:solidFill>
                  <a:srgbClr val="2C2F37"/>
                </a:solidFill>
                <a:latin typeface="Aptos"/>
              </a:rPr>
              <a:t>Inventory  •  Reports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977639"/>
            <a:ext cx="7132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Course: ITE-298 Information Management (Database Systems 1 and 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617720"/>
            <a:ext cx="713232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E4E8F0"/>
                </a:solidFill>
                <a:latin typeface="Aptos"/>
              </a:rPr>
              <a:t>CHERRYGEL P. ANTIVO  •  CHRYSLER JOHN M. ROBLE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4E8F0"/>
                </a:solidFill>
                <a:latin typeface="Aptos"/>
              </a:rPr>
              <a:t>ELIJAH SHIENE F. CANILLO  •  JEVY G. SULTAN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4E8F0"/>
                </a:solidFill>
                <a:latin typeface="Aptos"/>
              </a:rPr>
              <a:t>JOHN CARL S. VANZUELA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6126480"/>
            <a:ext cx="6858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FABED3"/>
                </a:solidFill>
                <a:latin typeface="Aptos"/>
              </a:rPr>
              <a:t>SEPTEMBER 2026  |  JAVA SWING + MYSQL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046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DC5385"/>
                </a:solidFill>
                <a:latin typeface="Aptos"/>
              </a:rPr>
              <a:t>PHASE 1 • CONTEXT &amp; 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0283A"/>
                </a:solidFill>
                <a:latin typeface="Aptos"/>
              </a:rPr>
              <a:t>Why Cherry Cosmetics needs an ordering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87000" y="256032"/>
            <a:ext cx="1325880" cy="384048"/>
          </a:xfrm>
          <a:prstGeom prst="roundRect">
            <a:avLst/>
          </a:prstGeom>
          <a:solidFill>
            <a:srgbClr val="FFF1F6"/>
          </a:solidFill>
          <a:ln>
            <a:solidFill>
              <a:srgbClr val="FF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41864" y="310896"/>
            <a:ext cx="1216152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DC5385"/>
                </a:solidFill>
                <a:latin typeface="Aptos"/>
              </a:rPr>
              <a:t>30 SECONDS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E1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9875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686E78"/>
                </a:solidFill>
                <a:latin typeface="Aptos"/>
              </a:rPr>
              <a:t>ITE-298 INFORMATION MANAGEMENT  |  CHERRY COSMETICS 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28816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686E78"/>
                </a:solidFill>
                <a:latin typeface="Aptos"/>
              </a:rPr>
              <a:t>2/6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508760"/>
            <a:ext cx="5349240" cy="3337560"/>
          </a:xfrm>
          <a:prstGeom prst="roundRect">
            <a:avLst/>
          </a:prstGeom>
          <a:solidFill>
            <a:srgbClr val="F5F6F9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645919"/>
            <a:ext cx="5020055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B87C23"/>
                </a:solidFill>
                <a:latin typeface="Aptos"/>
              </a:rPr>
              <a:t>CURRENT CHALLENGES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011680"/>
            <a:ext cx="5129783" cy="2743200"/>
          </a:xfrm>
          <a:prstGeom prst="rect">
            <a:avLst/>
          </a:prstGeom>
          <a:noFill/>
        </p:spPr>
        <p:txBody>
          <a:bodyPr wrap="square" lIns="73152" rIns="73152" tIns="73152" bIns="18288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C2F37"/>
                </a:solidFill>
                <a:latin typeface="Aptos"/>
              </a:defRPr>
            </a:pPr>
            <a:r>
              <a:t>• Orders and questions arrive through Messenger.</a:t>
            </a:r>
          </a:p>
          <a:p>
            <a:pPr>
              <a:spcAft>
                <a:spcPts val="900"/>
              </a:spcAft>
              <a:defRPr sz="1500">
                <a:solidFill>
                  <a:srgbClr val="2C2F37"/>
                </a:solidFill>
                <a:latin typeface="Aptos"/>
              </a:defRPr>
            </a:pPr>
            <a:r>
              <a:t>• New conversations can push older requests down.</a:t>
            </a:r>
          </a:p>
          <a:p>
            <a:pPr>
              <a:spcAft>
                <a:spcPts val="900"/>
              </a:spcAft>
              <a:defRPr sz="1500">
                <a:solidFill>
                  <a:srgbClr val="2C2F37"/>
                </a:solidFill>
                <a:latin typeface="Aptos"/>
              </a:defRPr>
            </a:pPr>
            <a:r>
              <a:t>• Product, payment, and stock details need manual tracking.</a:t>
            </a:r>
          </a:p>
          <a:p>
            <a:pPr>
              <a:spcAft>
                <a:spcPts val="900"/>
              </a:spcAft>
              <a:defRPr sz="1500">
                <a:solidFill>
                  <a:srgbClr val="2C2F37"/>
                </a:solidFill>
                <a:latin typeface="Aptos"/>
              </a:defRPr>
            </a:pPr>
            <a:r>
              <a:t>• Customers have no dedicated place to check order status.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08760"/>
            <a:ext cx="5349240" cy="3337560"/>
          </a:xfrm>
          <a:prstGeom prst="roundRect">
            <a:avLst/>
          </a:prstGeom>
          <a:solidFill>
            <a:srgbClr val="F5F6F9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645919"/>
            <a:ext cx="5020055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31805C"/>
                </a:solidFill>
                <a:latin typeface="Aptos"/>
              </a:rPr>
              <a:t>SYSTEM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011680"/>
            <a:ext cx="5129783" cy="2743200"/>
          </a:xfrm>
          <a:prstGeom prst="rect">
            <a:avLst/>
          </a:prstGeom>
          <a:noFill/>
        </p:spPr>
        <p:txBody>
          <a:bodyPr wrap="square" lIns="73152" rIns="73152" tIns="73152" bIns="18288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C2F37"/>
                </a:solidFill>
                <a:latin typeface="Aptos"/>
              </a:defRPr>
            </a:pPr>
            <a:r>
              <a:t>• Customers browse products, use a cart, and place orders.</a:t>
            </a:r>
          </a:p>
          <a:p>
            <a:pPr>
              <a:spcAft>
                <a:spcPts val="900"/>
              </a:spcAft>
              <a:defRPr sz="1500">
                <a:solidFill>
                  <a:srgbClr val="2C2F37"/>
                </a:solidFill>
                <a:latin typeface="Aptos"/>
              </a:defRPr>
            </a:pPr>
            <a:r>
              <a:t>• Order details and statuses are stored in MySQL.</a:t>
            </a:r>
          </a:p>
          <a:p>
            <a:pPr>
              <a:spcAft>
                <a:spcPts val="900"/>
              </a:spcAft>
              <a:defRPr sz="1500">
                <a:solidFill>
                  <a:srgbClr val="2C2F37"/>
                </a:solidFill>
                <a:latin typeface="Aptos"/>
              </a:defRPr>
            </a:pPr>
            <a:r>
              <a:t>• The administrator manages products, customers, stock, and payments.</a:t>
            </a:r>
          </a:p>
          <a:p>
            <a:pPr>
              <a:spcAft>
                <a:spcPts val="900"/>
              </a:spcAft>
              <a:defRPr sz="1500">
                <a:solidFill>
                  <a:srgbClr val="2C2F37"/>
                </a:solidFill>
                <a:latin typeface="Aptos"/>
              </a:defRPr>
            </a:pPr>
            <a:r>
              <a:t>• Reports and CSV export help organize sales information.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5074920"/>
            <a:ext cx="10972800" cy="1051560"/>
          </a:xfrm>
          <a:prstGeom prst="roundRect">
            <a:avLst/>
          </a:prstGeom>
          <a:solidFill>
            <a:srgbClr val="FFF1F6"/>
          </a:solidFill>
          <a:ln>
            <a:solidFill>
              <a:srgbClr val="FF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5230368"/>
            <a:ext cx="13258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DC5385"/>
                </a:solidFill>
                <a:latin typeface="Aptos"/>
              </a:rPr>
              <a:t>PRESENTER 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5193792"/>
            <a:ext cx="9235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C2F37"/>
                </a:solidFill>
                <a:latin typeface="Aptos"/>
              </a:rPr>
              <a:t>“Good day, panel. Our project is a desktop-based ordering system for Cherry Cosmetics Shop. It helps organize orders that are currently handled through Messenger and keeps product, customer, payment, and stock records in one place.”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046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DC5385"/>
                </a:solidFill>
                <a:latin typeface="Aptos"/>
              </a:rPr>
              <a:t>PHASE 2 • CORE FEATURE FLOW &amp; 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0283A"/>
                </a:solidFill>
                <a:latin typeface="Aptos"/>
              </a:rPr>
              <a:t>How an order moves through the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87000" y="256032"/>
            <a:ext cx="1325880" cy="384048"/>
          </a:xfrm>
          <a:prstGeom prst="roundRect">
            <a:avLst/>
          </a:prstGeom>
          <a:solidFill>
            <a:srgbClr val="FFF1F6"/>
          </a:solidFill>
          <a:ln>
            <a:solidFill>
              <a:srgbClr val="FF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41864" y="310896"/>
            <a:ext cx="1216152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DC5385"/>
                </a:solidFill>
                <a:latin typeface="Aptos"/>
              </a:rPr>
              <a:t>60 SECONDS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E1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9875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686E78"/>
                </a:solidFill>
                <a:latin typeface="Aptos"/>
              </a:rPr>
              <a:t>ITE-298 INFORMATION MANAGEMENT  |  CHERRY COSMETICS 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28816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686E78"/>
                </a:solidFill>
                <a:latin typeface="Aptos"/>
              </a:rPr>
              <a:t>3/6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17320"/>
            <a:ext cx="2514600" cy="1325880"/>
          </a:xfrm>
          <a:prstGeom prst="roundRect">
            <a:avLst/>
          </a:prstGeom>
          <a:solidFill>
            <a:srgbClr val="F5F6F9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1600200"/>
            <a:ext cx="2286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DC5385"/>
                </a:solidFill>
                <a:latin typeface="Aptos"/>
              </a:rPr>
              <a:t>1. BROWSE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1938528"/>
            <a:ext cx="22402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0">
                <a:solidFill>
                  <a:srgbClr val="2C2F37"/>
                </a:solidFill>
                <a:latin typeface="Aptos"/>
              </a:rPr>
              <a:t>Customer views products and available stock.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1874519"/>
            <a:ext cx="29260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900" b="1">
                <a:solidFill>
                  <a:srgbClr val="DC5385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47288" y="1417320"/>
            <a:ext cx="2514600" cy="1325880"/>
          </a:xfrm>
          <a:prstGeom prst="roundRect">
            <a:avLst/>
          </a:prstGeom>
          <a:solidFill>
            <a:srgbClr val="F5F6F9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7016" y="1600200"/>
            <a:ext cx="2286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DC5385"/>
                </a:solidFill>
                <a:latin typeface="Aptos"/>
              </a:rPr>
              <a:t>2. CART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1938528"/>
            <a:ext cx="22402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0">
                <a:solidFill>
                  <a:srgbClr val="2C2F37"/>
                </a:solidFill>
                <a:latin typeface="Aptos"/>
              </a:rPr>
              <a:t>Customer selects items and quantities.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1874519"/>
            <a:ext cx="29260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900" b="1">
                <a:solidFill>
                  <a:srgbClr val="DC5385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7648" y="1417320"/>
            <a:ext cx="2514600" cy="1325880"/>
          </a:xfrm>
          <a:prstGeom prst="roundRect">
            <a:avLst/>
          </a:prstGeom>
          <a:solidFill>
            <a:srgbClr val="F5F6F9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1600200"/>
            <a:ext cx="2286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DC5385"/>
                </a:solidFill>
                <a:latin typeface="Aptos"/>
              </a:rPr>
              <a:t>3. CHECKOUT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1938528"/>
            <a:ext cx="22402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0">
                <a:solidFill>
                  <a:srgbClr val="2C2F37"/>
                </a:solidFill>
                <a:latin typeface="Aptos"/>
              </a:rPr>
              <a:t>Location, contact, and payment details are entered.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1874519"/>
            <a:ext cx="29260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900" b="1">
                <a:solidFill>
                  <a:srgbClr val="DC5385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08007" y="1417320"/>
            <a:ext cx="2514600" cy="1325880"/>
          </a:xfrm>
          <a:prstGeom prst="roundRect">
            <a:avLst/>
          </a:prstGeom>
          <a:solidFill>
            <a:srgbClr val="F5F6F9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17735" y="1600200"/>
            <a:ext cx="2286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DC5385"/>
                </a:solidFill>
                <a:latin typeface="Aptos"/>
              </a:rPr>
              <a:t>4. SAVE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7" y="1938528"/>
            <a:ext cx="22402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0">
                <a:solidFill>
                  <a:srgbClr val="2C2F37"/>
                </a:solidFill>
                <a:latin typeface="Aptos"/>
              </a:rPr>
              <a:t>Order, items, and payment are stored in MySQL.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3063240"/>
            <a:ext cx="5120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0283A"/>
                </a:solidFill>
                <a:latin typeface="Aptos"/>
              </a:rPr>
              <a:t>SIX MYSQL TABLES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" y="3520440"/>
            <a:ext cx="3429000" cy="621792"/>
          </a:xfrm>
          <a:prstGeom prst="roundRect">
            <a:avLst/>
          </a:prstGeom>
          <a:solidFill>
            <a:srgbClr val="FFF1F6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602736"/>
            <a:ext cx="13258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DC5385"/>
                </a:solidFill>
                <a:latin typeface="Aptos"/>
              </a:rPr>
              <a:t>USERS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39112" y="3593592"/>
            <a:ext cx="1874519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2C2F37"/>
                </a:solidFill>
                <a:latin typeface="Aptos"/>
              </a:rPr>
              <a:t>Accounts and roles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16552" y="3520440"/>
            <a:ext cx="3429000" cy="621792"/>
          </a:xfrm>
          <a:prstGeom prst="roundRect">
            <a:avLst/>
          </a:prstGeom>
          <a:solidFill>
            <a:srgbClr val="FFF1F6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3602736"/>
            <a:ext cx="13258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DC5385"/>
                </a:solidFill>
                <a:latin typeface="Aptos"/>
              </a:rPr>
              <a:t>CATEGORIES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3872" y="3593592"/>
            <a:ext cx="1874519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2C2F37"/>
                </a:solidFill>
                <a:latin typeface="Aptos"/>
              </a:rPr>
              <a:t>Product categories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11312" y="3520440"/>
            <a:ext cx="3429000" cy="621792"/>
          </a:xfrm>
          <a:prstGeom prst="roundRect">
            <a:avLst/>
          </a:prstGeom>
          <a:solidFill>
            <a:srgbClr val="FFF1F6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3602736"/>
            <a:ext cx="13258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DC5385"/>
                </a:solidFill>
                <a:latin typeface="Aptos"/>
              </a:rPr>
              <a:t>PRODUCTS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28632" y="3593592"/>
            <a:ext cx="1874519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2C2F37"/>
                </a:solidFill>
                <a:latin typeface="Aptos"/>
              </a:rPr>
              <a:t>Prices, discounts, stock, images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" y="4361688"/>
            <a:ext cx="3429000" cy="621792"/>
          </a:xfrm>
          <a:prstGeom prst="roundRect">
            <a:avLst/>
          </a:prstGeom>
          <a:solidFill>
            <a:srgbClr val="F5F6F9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443984"/>
            <a:ext cx="13258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DC5385"/>
                </a:solidFill>
                <a:latin typeface="Aptos"/>
              </a:rPr>
              <a:t>ORDERS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39112" y="4434840"/>
            <a:ext cx="1874519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2C2F37"/>
                </a:solidFill>
                <a:latin typeface="Aptos"/>
              </a:rPr>
              <a:t>Customer order and status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16552" y="4361688"/>
            <a:ext cx="3429000" cy="621792"/>
          </a:xfrm>
          <a:prstGeom prst="roundRect">
            <a:avLst/>
          </a:prstGeom>
          <a:solidFill>
            <a:srgbClr val="F5F6F9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26280" y="4443984"/>
            <a:ext cx="13258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DC5385"/>
                </a:solidFill>
                <a:latin typeface="Aptos"/>
              </a:rPr>
              <a:t>ORDER_ITEMS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33872" y="4434840"/>
            <a:ext cx="1874519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2C2F37"/>
                </a:solidFill>
                <a:latin typeface="Aptos"/>
              </a:rPr>
              <a:t>Products and quantities per order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11312" y="4361688"/>
            <a:ext cx="3429000" cy="621792"/>
          </a:xfrm>
          <a:prstGeom prst="roundRect">
            <a:avLst/>
          </a:prstGeom>
          <a:solidFill>
            <a:srgbClr val="F5F6F9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4443984"/>
            <a:ext cx="13258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DC5385"/>
                </a:solidFill>
                <a:latin typeface="Aptos"/>
              </a:rPr>
              <a:t>PAYMENTS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28632" y="4434840"/>
            <a:ext cx="1874519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2C2F37"/>
                </a:solidFill>
                <a:latin typeface="Aptos"/>
              </a:rPr>
              <a:t>Method, status, reference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5440680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686E78"/>
                </a:solidFill>
                <a:latin typeface="Aptos"/>
              </a:rPr>
              <a:t>Database relationships: USERS → ORDERS; CATEGORIES → PRODUCTS; ORDERS → ORDER_ITEMS; PRODUCTS → ORDER_ITEMS; ORDERS → PAYMENTS. ORDER_ITEMS connects ORDERS and PRODUCTS.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046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DC5385"/>
                </a:solidFill>
                <a:latin typeface="Aptos"/>
              </a:rPr>
              <a:t>PHASE 3 • VALIDATION &amp; SYSTEM STABILITY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0283A"/>
                </a:solidFill>
                <a:latin typeface="Aptos"/>
              </a:rPr>
              <a:t>What the system checks before saving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87000" y="256032"/>
            <a:ext cx="1325880" cy="384048"/>
          </a:xfrm>
          <a:prstGeom prst="roundRect">
            <a:avLst/>
          </a:prstGeom>
          <a:solidFill>
            <a:srgbClr val="FFF1F6"/>
          </a:solidFill>
          <a:ln>
            <a:solidFill>
              <a:srgbClr val="FF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41864" y="310896"/>
            <a:ext cx="1216152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DC5385"/>
                </a:solidFill>
                <a:latin typeface="Aptos"/>
              </a:rPr>
              <a:t>30 SECONDS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E1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9875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686E78"/>
                </a:solidFill>
                <a:latin typeface="Aptos"/>
              </a:rPr>
              <a:t>ITE-298 INFORMATION MANAGEMENT  |  CHERRY COSMETICS 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28816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686E78"/>
                </a:solidFill>
                <a:latin typeface="Aptos"/>
              </a:rPr>
              <a:t>4/6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508760"/>
            <a:ext cx="3520440" cy="3383280"/>
          </a:xfrm>
          <a:prstGeom prst="roundRect">
            <a:avLst/>
          </a:prstGeom>
          <a:solidFill>
            <a:srgbClr val="F5F6F9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645919"/>
            <a:ext cx="319125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DC5385"/>
                </a:solidFill>
                <a:latin typeface="Aptos"/>
              </a:rPr>
              <a:t>INPUT CHECKS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011680"/>
            <a:ext cx="3300984" cy="2788920"/>
          </a:xfrm>
          <a:prstGeom prst="rect">
            <a:avLst/>
          </a:prstGeom>
          <a:noFill/>
        </p:spPr>
        <p:txBody>
          <a:bodyPr wrap="square" lIns="73152" rIns="73152" tIns="73152" bIns="18288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C2F37"/>
                </a:solidFill>
                <a:latin typeface="Aptos"/>
              </a:defRPr>
            </a:pPr>
            <a:r>
              <a:t>• Checkout requires location and contact details.</a:t>
            </a:r>
          </a:p>
          <a:p>
            <a:pPr>
              <a:spcAft>
                <a:spcPts val="900"/>
              </a:spcAft>
              <a:defRPr sz="1400">
                <a:solidFill>
                  <a:srgbClr val="2C2F37"/>
                </a:solidFill>
                <a:latin typeface="Aptos"/>
              </a:defRPr>
            </a:pPr>
            <a:r>
              <a:t>• GCash checkout requires a reference number.</a:t>
            </a:r>
          </a:p>
          <a:p>
            <a:pPr>
              <a:spcAft>
                <a:spcPts val="900"/>
              </a:spcAft>
              <a:defRPr sz="1400">
                <a:solidFill>
                  <a:srgbClr val="2C2F37"/>
                </a:solidFill>
                <a:latin typeface="Aptos"/>
              </a:defRPr>
            </a:pPr>
            <a:r>
              <a:t>• Quantity, price, stock, and discount have database checks.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508760"/>
            <a:ext cx="3520440" cy="3383280"/>
          </a:xfrm>
          <a:prstGeom prst="roundRect">
            <a:avLst/>
          </a:prstGeom>
          <a:solidFill>
            <a:srgbClr val="F5F6F9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645919"/>
            <a:ext cx="319125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DC5385"/>
                </a:solidFill>
                <a:latin typeface="Aptos"/>
              </a:rPr>
              <a:t>DATABASE SAFEGUARDS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2011680"/>
            <a:ext cx="3300984" cy="2788920"/>
          </a:xfrm>
          <a:prstGeom prst="rect">
            <a:avLst/>
          </a:prstGeom>
          <a:noFill/>
        </p:spPr>
        <p:txBody>
          <a:bodyPr wrap="square" lIns="73152" rIns="73152" tIns="73152" bIns="18288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C2F37"/>
                </a:solidFill>
                <a:latin typeface="Aptos"/>
              </a:defRPr>
            </a:pPr>
            <a:r>
              <a:t>• Prepared statements are used for database values.</a:t>
            </a:r>
          </a:p>
          <a:p>
            <a:pPr>
              <a:spcAft>
                <a:spcPts val="900"/>
              </a:spcAft>
              <a:defRPr sz="1400">
                <a:solidFill>
                  <a:srgbClr val="2C2F37"/>
                </a:solidFill>
                <a:latin typeface="Aptos"/>
              </a:defRPr>
            </a:pPr>
            <a:r>
              <a:t>• Unique usernames and emails help prevent duplicates.</a:t>
            </a:r>
          </a:p>
          <a:p>
            <a:pPr>
              <a:spcAft>
                <a:spcPts val="900"/>
              </a:spcAft>
              <a:defRPr sz="1400">
                <a:solidFill>
                  <a:srgbClr val="2C2F37"/>
                </a:solidFill>
                <a:latin typeface="Aptos"/>
              </a:defRPr>
            </a:pPr>
            <a:r>
              <a:t>• Foreign keys connect related records.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508760"/>
            <a:ext cx="3520440" cy="3383280"/>
          </a:xfrm>
          <a:prstGeom prst="roundRect">
            <a:avLst/>
          </a:prstGeom>
          <a:solidFill>
            <a:srgbClr val="F5F6F9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1" y="1645919"/>
            <a:ext cx="319125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B87C23"/>
                </a:solidFill>
                <a:latin typeface="Aptos"/>
              </a:rPr>
              <a:t>IMPORTANT LIMITATION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7" y="2011680"/>
            <a:ext cx="3300984" cy="2788920"/>
          </a:xfrm>
          <a:prstGeom prst="rect">
            <a:avLst/>
          </a:prstGeom>
          <a:noFill/>
        </p:spPr>
        <p:txBody>
          <a:bodyPr wrap="square" lIns="73152" rIns="73152" tIns="73152" bIns="18288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C2F37"/>
                </a:solidFill>
                <a:latin typeface="Aptos"/>
              </a:defRPr>
            </a:pPr>
            <a:r>
              <a:t>• The app records payment information; it does not process online payments.</a:t>
            </a:r>
          </a:p>
          <a:p>
            <a:pPr>
              <a:spcAft>
                <a:spcPts val="900"/>
              </a:spcAft>
              <a:defRPr sz="1400">
                <a:solidFill>
                  <a:srgbClr val="2C2F37"/>
                </a:solidFill>
                <a:latin typeface="Aptos"/>
              </a:defRPr>
            </a:pPr>
            <a:r>
              <a:t>• Passwords are currently stored as plain text and need secure hashing before real-world use.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5166360"/>
            <a:ext cx="10972800" cy="868680"/>
          </a:xfrm>
          <a:prstGeom prst="roundRect">
            <a:avLst/>
          </a:prstGeom>
          <a:solidFill>
            <a:srgbClr val="FFF1F6"/>
          </a:solidFill>
          <a:ln>
            <a:solidFill>
              <a:srgbClr val="FF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5321808"/>
            <a:ext cx="105613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2C2F37"/>
                </a:solidFill>
                <a:latin typeface="Aptos"/>
              </a:rPr>
              <a:t>Defense note: Be honest about current limitations. Do not claim that the system uses password hashing or a payment gateway.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046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DC5385"/>
                </a:solidFill>
                <a:latin typeface="Aptos"/>
              </a:rPr>
              <a:t>PHASE 4 • REPORTING &amp;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0283A"/>
                </a:solidFill>
                <a:latin typeface="Aptos"/>
              </a:rPr>
              <a:t>Reports, CSV export, and receipts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87000" y="256032"/>
            <a:ext cx="1325880" cy="384048"/>
          </a:xfrm>
          <a:prstGeom prst="roundRect">
            <a:avLst/>
          </a:prstGeom>
          <a:solidFill>
            <a:srgbClr val="FFF1F6"/>
          </a:solidFill>
          <a:ln>
            <a:solidFill>
              <a:srgbClr val="FF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41864" y="310896"/>
            <a:ext cx="1216152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DC5385"/>
                </a:solidFill>
                <a:latin typeface="Aptos"/>
              </a:rPr>
              <a:t>30 SECONDS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E1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9875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686E78"/>
                </a:solidFill>
                <a:latin typeface="Aptos"/>
              </a:rPr>
              <a:t>ITE-298 INFORMATION MANAGEMENT  |  CHERRY COSMETICS 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28816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686E78"/>
                </a:solidFill>
                <a:latin typeface="Aptos"/>
              </a:rPr>
              <a:t>5/6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508760"/>
            <a:ext cx="5349240" cy="3429000"/>
          </a:xfrm>
          <a:prstGeom prst="roundRect">
            <a:avLst/>
          </a:prstGeom>
          <a:solidFill>
            <a:srgbClr val="F5F6F9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645919"/>
            <a:ext cx="5020055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DC5385"/>
                </a:solidFill>
                <a:latin typeface="Aptos"/>
              </a:rPr>
              <a:t>ADMIN SALES REPORTS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011680"/>
            <a:ext cx="5129783" cy="2834640"/>
          </a:xfrm>
          <a:prstGeom prst="rect">
            <a:avLst/>
          </a:prstGeom>
          <a:noFill/>
        </p:spPr>
        <p:txBody>
          <a:bodyPr wrap="square" lIns="73152" rIns="73152" tIns="73152" bIns="18288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C2F37"/>
                </a:solidFill>
                <a:latin typeface="Aptos"/>
              </a:defRPr>
            </a:pPr>
            <a:r>
              <a:t>• Weekly, monthly, and yearly report periods.</a:t>
            </a:r>
          </a:p>
          <a:p>
            <a:pPr>
              <a:spcAft>
                <a:spcPts val="900"/>
              </a:spcAft>
              <a:defRPr sz="1500">
                <a:solidFill>
                  <a:srgbClr val="2C2F37"/>
                </a:solidFill>
                <a:latin typeface="Aptos"/>
              </a:defRPr>
            </a:pPr>
            <a:r>
              <a:t>• Search and status filters narrow the displayed results.</a:t>
            </a:r>
          </a:p>
          <a:p>
            <a:pPr>
              <a:spcAft>
                <a:spcPts val="900"/>
              </a:spcAft>
              <a:defRPr sz="1500">
                <a:solidFill>
                  <a:srgbClr val="2C2F37"/>
                </a:solidFill>
                <a:latin typeface="Aptos"/>
              </a:defRPr>
            </a:pPr>
            <a:r>
              <a:t>• The report shows sales/order information based on the system's report rules.</a:t>
            </a:r>
          </a:p>
          <a:p>
            <a:pPr>
              <a:spcAft>
                <a:spcPts val="900"/>
              </a:spcAft>
              <a:defRPr sz="1500">
                <a:solidFill>
                  <a:srgbClr val="2C2F37"/>
                </a:solidFill>
                <a:latin typeface="Aptos"/>
              </a:defRPr>
            </a:pPr>
            <a:r>
              <a:t>• CSV export saves the currently displayed rows and total.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08760"/>
            <a:ext cx="5349240" cy="3429000"/>
          </a:xfrm>
          <a:prstGeom prst="roundRect">
            <a:avLst/>
          </a:prstGeom>
          <a:solidFill>
            <a:srgbClr val="F5F6F9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645919"/>
            <a:ext cx="5020055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31805C"/>
                </a:solidFill>
                <a:latin typeface="Aptos"/>
              </a:rPr>
              <a:t>CUSTOMER ORDER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011680"/>
            <a:ext cx="5129783" cy="2834640"/>
          </a:xfrm>
          <a:prstGeom prst="rect">
            <a:avLst/>
          </a:prstGeom>
          <a:noFill/>
        </p:spPr>
        <p:txBody>
          <a:bodyPr wrap="square" lIns="73152" rIns="73152" tIns="73152" bIns="18288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C2F37"/>
                </a:solidFill>
                <a:latin typeface="Aptos"/>
              </a:defRPr>
            </a:pPr>
            <a:r>
              <a:t>• Customers can view their order history and current status.</a:t>
            </a:r>
          </a:p>
          <a:p>
            <a:pPr>
              <a:spcAft>
                <a:spcPts val="900"/>
              </a:spcAft>
              <a:defRPr sz="1500">
                <a:solidFill>
                  <a:srgbClr val="2C2F37"/>
                </a:solidFill>
                <a:latin typeface="Aptos"/>
              </a:defRPr>
            </a:pPr>
            <a:r>
              <a:t>• Eligible orders can display a receipt.</a:t>
            </a:r>
          </a:p>
          <a:p>
            <a:pPr>
              <a:spcAft>
                <a:spcPts val="900"/>
              </a:spcAft>
              <a:defRPr sz="1500">
                <a:solidFill>
                  <a:srgbClr val="2C2F37"/>
                </a:solidFill>
                <a:latin typeface="Aptos"/>
              </a:defRPr>
            </a:pPr>
            <a:r>
              <a:t>• Receipts are generated as PNG images.</a:t>
            </a:r>
          </a:p>
          <a:p>
            <a:pPr>
              <a:spcAft>
                <a:spcPts val="900"/>
              </a:spcAft>
              <a:defRPr sz="1500">
                <a:solidFill>
                  <a:srgbClr val="2C2F37"/>
                </a:solidFill>
                <a:latin typeface="Aptos"/>
              </a:defRPr>
            </a:pPr>
            <a:r>
              <a:t>• The administrator can manage the order workflow from Pending through later statuses.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5212080"/>
            <a:ext cx="10972800" cy="822960"/>
          </a:xfrm>
          <a:prstGeom prst="roundRect">
            <a:avLst/>
          </a:prstGeom>
          <a:solidFill>
            <a:srgbClr val="FFF1F6"/>
          </a:solidFill>
          <a:ln>
            <a:solidFill>
              <a:srgbClr val="FF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5349240"/>
            <a:ext cx="13258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DC5385"/>
                </a:solidFill>
                <a:latin typeface="Aptos"/>
              </a:rPr>
              <a:t>PRESENTER 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5321808"/>
            <a:ext cx="91440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2C2F37"/>
                </a:solidFill>
                <a:latin typeface="Aptos"/>
              </a:rPr>
              <a:t>“The administrator can review weekly, monthly, and yearly reports and export the displayed data to CSV. Customers can also check order progress and view eligible receipts as PNG images.”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FABED3"/>
                </a:solidFill>
                <a:latin typeface="Aptos"/>
              </a:rPr>
              <a:t>FINAL DEFENSE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FFFFFF"/>
                </a:solidFill>
                <a:latin typeface="Aptos"/>
              </a:rPr>
              <a:t>A desktop system for more organized ordering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3429000" cy="1417320"/>
          </a:xfrm>
          <a:prstGeom prst="roundRect">
            <a:avLst/>
          </a:prstGeom>
          <a:solidFill>
            <a:srgbClr val="303A4E"/>
          </a:solidFill>
          <a:ln>
            <a:solidFill>
              <a:srgbClr val="444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2176272"/>
            <a:ext cx="3063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FABED3"/>
                </a:solidFill>
                <a:latin typeface="Aptos"/>
              </a:rPr>
              <a:t>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542032"/>
            <a:ext cx="30632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Browse → Cart → Checkout → Order tracking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965960"/>
            <a:ext cx="3429000" cy="1417320"/>
          </a:xfrm>
          <a:prstGeom prst="roundRect">
            <a:avLst/>
          </a:prstGeom>
          <a:solidFill>
            <a:srgbClr val="303A4E"/>
          </a:solidFill>
          <a:ln>
            <a:solidFill>
              <a:srgbClr val="444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2176272"/>
            <a:ext cx="3063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FABED3"/>
                </a:solidFill>
                <a:latin typeface="Aptos"/>
              </a:rPr>
              <a:t>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2542032"/>
            <a:ext cx="30632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Six related MySQL tables with primary and foreign keys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965960"/>
            <a:ext cx="3429000" cy="1417320"/>
          </a:xfrm>
          <a:prstGeom prst="roundRect">
            <a:avLst/>
          </a:prstGeom>
          <a:solidFill>
            <a:srgbClr val="303A4E"/>
          </a:solidFill>
          <a:ln>
            <a:solidFill>
              <a:srgbClr val="444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2" y="2176272"/>
            <a:ext cx="3063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FABED3"/>
                </a:solidFill>
                <a:latin typeface="Aptos"/>
              </a:rPr>
              <a:t>ADMIN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542032"/>
            <a:ext cx="30632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Product, stock, order, customer, payment, and sales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886200"/>
            <a:ext cx="10789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FABED3"/>
                </a:solidFill>
                <a:latin typeface="Aptos"/>
              </a:rPr>
              <a:t>POSSIBLE PANEL QUESTIONS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70832"/>
            <a:ext cx="106984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• Why MySQL? — It organizes related records in a relational database managed through XAMPP/phpMyAdmin.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754880"/>
            <a:ext cx="106984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• Why ORDER_ITEMS? — It connects orders and products and stores quantity and unit price.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138928"/>
            <a:ext cx="106984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• Does it accept online payments? — No. It records payment method, status, and reference only.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522976"/>
            <a:ext cx="106984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• Can reports be exported? — Yes, the currently displayed report can be exported to CSV.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172200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THANK YOU  |  READY FOR QUESTIONS &amp; LIVE SYSTEM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